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FE7DF"/>
                </a:solidFill>
                <a:latin typeface="Calibri"/>
              </a:rPr>
              <a:t>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CloudDQ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AF5F1"/>
                </a:solidFill>
                <a:latin typeface="Calibri"/>
              </a:rPr>
              <a:t>Serverless, AI-Assisted Data Quality Assessment and Monitoring Platform on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Team: [Team name]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6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202B"/>
                </a:solidFill>
                <a:latin typeface="Calibri"/>
              </a:rPr>
              <a:t>Pooja Palani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6B5C"/>
                </a:solidFill>
                <a:latin typeface="Calibri"/>
              </a:rPr>
              <a:t>Reg. No.: [Reg. No.]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Backend &amp; API — Lambda, API Gateway, DynamoDB, Bedrock invoke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42976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44348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202B"/>
                </a:solidFill>
                <a:latin typeface="Calibri"/>
              </a:rPr>
              <a:t>Dewlyn 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4892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6B5C"/>
                </a:solidFill>
                <a:latin typeface="Calibri"/>
              </a:rPr>
              <a:t>Reg. No.: [Reg. No.]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5257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Frontend &amp; Identity — Amplify, Cognito, S3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42976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8" y="44348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202B"/>
                </a:solidFill>
                <a:latin typeface="Calibri"/>
              </a:rPr>
              <a:t>Lathika Shree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8" y="4892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6B5C"/>
                </a:solidFill>
                <a:latin typeface="Calibri"/>
              </a:rPr>
              <a:t>Reg. No.: [Reg. No.]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8" y="5257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Operations &amp; Governance — CloudWatch, IAM, config, Bedrock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Live: https://main.d3ffgcfvtof2u.amplifyapp.com/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WHY CLOUDDQ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7607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3202B"/>
                </a:solidFill>
                <a:latin typeface="Calibri"/>
              </a:rPr>
              <a:t>Organisations make decisions on data they rarely measure. CloudDQ AI lets a Data User upload a CSV dataset, scores it across six standard data-quality dimensions with an explainable rule engine, shows the result as a dashboard, writes a plain-language executive summary with Amazon Bedrock, and lets a Business User raise an alert that the Data User corrects and re-validates. The whole platform is serverless on AWS, keeps raw data private, and sends only aggregated metrics to the AI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50292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Measure dataset quality with a transparent, weighted six-dimension score (0–100).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Classify health as Healthy (80–100), Warning (60–79) or Critical (&lt;60) and decide fitness for analytics.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Visualise dimensions, column quality, score trend, severity and issues for each dataset.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Detect personal data (names, emails, phone numbers) in uploaded columns with Amazon Comprehend.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Generate an executive summary and top-3 fixes with Amazon Bedrock from metrics only, never raw rows.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Support two roles: Data Users run quality checks; Business Users review results and raise alerts.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Close the loop with a correction workflow: alert (emailed through Amazon SNS) → acknowledge → re-upload → re-analyse → resolve.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Run fully serverless on AWS with no stored AWS keys in the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5760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6B5C"/>
                </a:solidFill>
                <a:latin typeface="Calibri"/>
              </a:rPr>
              <a:t>DQ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3202B"/>
                </a:solidFill>
                <a:latin typeface="Calibri"/>
              </a:rPr>
              <a:t>0.25·Completeness + 0.20·Validity + 0.15·Uniqueness</a:t>
            </a:r>
          </a:p>
          <a:p>
            <a:pPr algn="l"/>
            <a:r>
              <a:rPr sz="1300" b="0">
                <a:solidFill>
                  <a:srgbClr val="13202B"/>
                </a:solidFill>
                <a:latin typeface="Calibri"/>
              </a:rPr>
              <a:t>+ 0.15·Consistency + 0.15·Accuracy + 0.10·Timeliness</a:t>
            </a:r>
          </a:p>
          <a:p>
            <a:pPr algn="l"/>
            <a:r>
              <a:rPr sz="1300" b="0">
                <a:solidFill>
                  <a:srgbClr val="13202B"/>
                </a:solidFill>
                <a:latin typeface="Calibri"/>
              </a:rPr>
              <a:t>Healthy 80–100 · Warning 60–79 · Critical &lt;60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List of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6B5C"/>
                </a:solidFill>
                <a:latin typeface="Calibri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2704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02B"/>
                </a:solidFill>
                <a:latin typeface="Calibri"/>
              </a:rPr>
              <a:t>Authentication &amp; Role-Based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5623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Email sign-in and two user roles enforced in both the UI and the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6B5C"/>
                </a:solidFill>
                <a:latin typeface="Calibri"/>
              </a:rPr>
              <a:t>Cognito, API Gateway authorizer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8191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6B5C"/>
                </a:solidFill>
                <a:latin typeface="Calibri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52704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02B"/>
                </a:solidFill>
                <a:latin typeface="Calibri"/>
              </a:rPr>
              <a:t>Frontend SaaS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85623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React + TypeScript single-page app with role-aware navigation.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488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6B5C"/>
                </a:solidFill>
                <a:latin typeface="Calibri"/>
              </a:rPr>
              <a:t>Amplify Hosting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24328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6B5C"/>
                </a:solidFill>
                <a:latin typeface="Calibri"/>
              </a:rPr>
              <a:t>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73405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02B"/>
                </a:solidFill>
                <a:latin typeface="Calibri"/>
              </a:rPr>
              <a:t>Dataset Upload &amp;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0632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Secure CSV upload with presigned URLs and a per-user dataset catalogue.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6B5C"/>
                </a:solidFill>
                <a:latin typeface="Calibri"/>
              </a:rPr>
              <a:t>S3, Lambda, DynamoDB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24328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78892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6B5C"/>
                </a:solidFill>
                <a:latin typeface="Calibri"/>
              </a:rPr>
              <a:t>M4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3405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02B"/>
                </a:solidFill>
                <a:latin typeface="Calibri"/>
              </a:rPr>
              <a:t>Data Quality Engine (Six Dimensions)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0632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Explainable profiling, scoring, rules, anomaly detection and PII detection.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35584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6B5C"/>
                </a:solidFill>
                <a:latin typeface="Calibri"/>
              </a:rPr>
              <a:t>Lambda, Comprehend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31336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9592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6B5C"/>
                </a:solidFill>
                <a:latin typeface="Calibri"/>
              </a:rPr>
              <a:t>M5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94106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02B"/>
                </a:solidFill>
                <a:latin typeface="Calibri"/>
              </a:rPr>
              <a:t>Dashboard, Reports &amp;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27024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Visual quality report per dataset with export and print.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56285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6B5C"/>
                </a:solidFill>
                <a:latin typeface="Calibri"/>
              </a:rPr>
              <a:t>Lambda, DynamoDB, Amplify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31336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99592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6B5C"/>
                </a:solidFill>
                <a:latin typeface="Calibri"/>
              </a:rPr>
              <a:t>M6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94106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02B"/>
                </a:solidFill>
                <a:latin typeface="Calibri"/>
              </a:rPr>
              <a:t>AI Executive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27024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Business-friendly explanation and top-3 recommendations from aggregated metrics.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56285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6B5C"/>
                </a:solidFill>
                <a:latin typeface="Calibri"/>
              </a:rPr>
              <a:t>Bedrock, Lambda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38344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02936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6B5C"/>
                </a:solidFill>
                <a:latin typeface="Calibri"/>
              </a:rPr>
              <a:t>M7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14807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02B"/>
                </a:solidFill>
                <a:latin typeface="Calibri"/>
              </a:rPr>
              <a:t>Alerts &amp; Soft Correction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47725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Business → Data User collaboration with email notification and re-validation.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769864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6B5C"/>
                </a:solidFill>
                <a:latin typeface="Calibri"/>
              </a:rPr>
              <a:t>Lambda, DynamoDB, SNS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038344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202936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6B5C"/>
                </a:solidFill>
                <a:latin typeface="Calibri"/>
              </a:rPr>
              <a:t>M8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514807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02B"/>
                </a:solidFill>
                <a:latin typeface="Calibri"/>
              </a:rPr>
              <a:t>API, Data Store &amp; Cloud 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47725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B66"/>
                </a:solidFill>
                <a:latin typeface="Calibri"/>
              </a:rPr>
              <a:t>One REST API, one Lambda, one table — monitored and least-privilege.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769864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6B5C"/>
                </a:solidFill>
                <a:latin typeface="Calibri"/>
              </a:rPr>
              <a:t>API Gateway, Lambda, DynamoDB, CloudWatch, SNS, IAM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MODULES M1–M2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Detailed Description of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6B5C"/>
                </a:solidFill>
                <a:latin typeface="Calibri"/>
              </a:rPr>
              <a:t>M1 · Authentication &amp; Role-Based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AWS: Cognito, API Gateway authorizer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Amazon Cognito user pool with email sign-in and a strong password policy (upper, lower, number, symbol).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Public SPA app client (no secret) using SRP authentication through amazon-cognito-identity-js.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Two Cognito groups, DataUser and BusinessUser; the group claim in the ID token decides the role.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Every API call carries the ID token as Authorization: Bearer; API Gateway's Cognito authorizer rejects missing or invalid tokens with 401.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Lambda re-checks the role for each action (e.g. only DataUser can upload; only BusinessUser can raise alerts) and returns 403 otherwise.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6B5C"/>
                </a:solidFill>
                <a:latin typeface="Calibri"/>
              </a:rPr>
              <a:t>M2 · Frontend SaaS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42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AWS: Amplify Hosting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React 19, TypeScript, Vite and Tailwind CSS; charts with Recharts; routing with React Router.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Pages: Landing, Login, Home (role workspace), Datasets repository, Upload, Dataset detail, Alerts.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Protected routes redirect signed-out users to login; the Upload route is visible only to Data Users.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Built and hosted by AWS Amplify from the GitHub main branch; configuration is injected at build time through VITE_ environment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MODULES M3–M4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Detailed Description of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6B5C"/>
                </a:solidFill>
                <a:latin typeface="Calibri"/>
              </a:rPr>
              <a:t>M3 · Dataset Upload &amp;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AWS: S3, Lambda, DynamoDB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The browser asks the API for a short-lived presigned S3 PUT URL (15 minutes), then uploads the CSV directly to the private bucket.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The dataset is registered in DynamoDB (DATASET#id / META) with owner, file, S3 key, status and a status timeline.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Uploads are keyed datasets/&lt;user&gt;/&lt;dataset&gt;/&lt;file&gt;.csv; the bucket blocks all public access and is encrypted (SSE-S3).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The repository page lists the user's datasets through the GSI1 index (USER#sub) with score and health badges.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6B5C"/>
                </a:solidFill>
                <a:latin typeface="Calibri"/>
              </a:rPr>
              <a:t>M4 · Data Quality Engine (Six Dimensions)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42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AWS: Lambda, Comprehend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Profiler infers each column's type (id, email, phone, date, numeric, categorical, string) and null rate.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Dimension scores: Completeness (null cells), Validity (format checks), Uniqueness (duplicate keys), Consistency (case/format variants), Accuracy (range checks), Timeliness (future and stale dates).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DQ score = 0.25·Completeness + 0.20·Validity + 0.15·Uniqueness + 0.15·Consistency + 0.15·Accuracy + 0.10·Timeliness.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Rules with thresholds and severities (e.g. Uniqueness ≥ 98 HIGH, Validity ≥ 90 MEDIUM) turn failures into issues.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Anomaly detection compares with the previous run: null-rate spike, volume drop, freshness delay and dimension score drop. No ML model is needed.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Amazon Comprehend DetectPiiEntities scans up to five sample values per column and flags columns holding personal data (NAME, EMAIL, PHONE, ADDRESS…) with a confidence score; generic types such as dates are ignored.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MODULES M5–M6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Detailed Description of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6B5C"/>
                </a:solidFill>
                <a:latin typeface="Calibri"/>
              </a:rPr>
              <a:t>M5 · Dashboard, Reports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AWS: Lambda, DynamoDB, Amplify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Score card with health and fit-for-analytics flag; status timeline (Uploaded → Processing → Analyzed → ReportGenerated → Completed).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Six-dimension bar chart, DQ score trend across runs, column quality heatmap, severity and rule coverage.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Issue list with severity filter (High / Medium / Low) and audit history.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Export the report as CSV and print it; the run history is kept on the dataset item for trend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6B5C"/>
                </a:solidFill>
                <a:latin typeface="Calibri"/>
              </a:rPr>
              <a:t>M6 · AI 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42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AWS: Bedrock, Lambda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Lambda builds a metrics JSON (score, health, dimensions, issue counts, anomalies, top issue messages) — no raw CSV rows.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Calls the Amazon Bedrock Converse API (Amazon Nova Lite, inference profile us.amazon.nova-lite-v1:0) and asks for JSON with an executive summary and exactly three recommendations.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The summary is cached on the dataset per analysis run, and the UI shows exactly which metrics the model received.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If Bedrock is unavailable, a deterministic summary is built from the same metrics so the feature degrades gracefully.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MODULES M7–M8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Detailed Description of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6B5C"/>
                </a:solidFill>
                <a:latin typeface="Calibri"/>
              </a:rPr>
              <a:t>M7 · Alerts &amp; Soft Correction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AWS: Lambda, DynamoDB, SNS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A Business User sends a quality alert with a note; the dataset workflow moves to AlertRaised and the Data User sees it in the inbox.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Lambda publishes the alert to the Amazon SNS topic clouddq-alerts, which emails subscribers with the score, health, note and a link to the dataset.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The Data User acknowledges, moves the dataset to correction, re-uploads a fixed CSV and re-runs the analysis.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Issue lifecycle OPEN → ASSIGNED → IN_PROGRESS → RESOLVED, with reopen and a full audit history.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An issue can only be resolved when the latest dimension score meets the rule threshold (re-validation).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6B5C"/>
                </a:solidFill>
                <a:latin typeface="Calibri"/>
              </a:rPr>
              <a:t>M8 · API, Data Store &amp; Cloud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42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AWS: API Gateway, Lambda, DynamoDB, CloudWatch, SNS, 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API Gateway REST API (stage prod) with / and /{proxy+} ANY methods routed to one Python 3.12 Lambda by Lambda proxy integration.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DynamoDB single-table design: PK/SK plus GSI1 for a user's datasets and alerts; on-demand capacity.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Lambda logs to CloudWatch (/aws/lambda/clouddq-api); alarm clouddq-api-errors fires on any error in 5 minutes and notifies the SNS topic.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D6B5C"/>
                </a:solidFill>
              </a:rPr>
              <a:t>▪  </a:t>
            </a:r>
            <a:r>
              <a:rPr sz="1400">
                <a:solidFill>
                  <a:srgbClr val="13202B"/>
                </a:solidFill>
                <a:latin typeface="Calibri"/>
              </a:rPr>
              <a:t>Three IAM users (one per team member) with role-scoped policies and an execution role clouddq-lambda-role for the 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SERVERLESS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8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560" y="1280160"/>
            <a:ext cx="8534400" cy="5120640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End-to-End Workflow &amp;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9</a:t>
            </a:r>
          </a:p>
        </p:txBody>
      </p:sp>
      <p:pic>
        <p:nvPicPr>
          <p:cNvPr id="6" name="Picture 5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99318"/>
            <a:ext cx="11064240" cy="1590484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246120"/>
          <a:ext cx="6035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1629460"/>
                <a:gridCol w="1388059"/>
                <a:gridCol w="181051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GSI1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DATASET#&lt;id&gt;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USER#&lt;sub&gt; / DATASET#…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Analysis run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DATASET#&lt;id&gt;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RUN#&lt;iso time&gt;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DATASET#&lt;id&gt;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ISSUE#&lt;id&gt;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ALERT#&lt;id&gt;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02B"/>
                          </a:solidFill>
                          <a:latin typeface="Calibri"/>
                        </a:rPr>
                        <a:t>USER#&lt;sub&gt; / ALERT#…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12280" y="3246120"/>
            <a:ext cx="4800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3337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Security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749039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Cognito JWT checked by API Gateway on every call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Roles re-checked inside Lambda (403 on wrong role)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Private encrypted S3, 15-min presigned uploads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Browser never holds AWS keys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Bedrock sees metrics JSON only, never raw rows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Separate IAM user per member, scoped policies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CLOUD STACK · US-EAST-1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AWS Services Used (10 + IAM)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6085332"/>
                <a:gridCol w="276606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in CloudDQ AI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AWS Amplify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Builds and hosts the React app from GitHub; injects VITE_ configuration at build time.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clouddq-ai · main branch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Amazon Cognito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User pool for sign-in; DataUser / BusinessUser groups; issues the JWT used by the API.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us-east-1_DT3M9ZhMz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Amazon API Gateway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REST API with a Cognito authorizer; forwards requests to Lambda (proxy).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fdro0463k8 · stage prod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AWS Lambda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Python 3.12 backend: routing, DQ engine, alerts, presigned URLs, AI integrations.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clouddq-api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Amazon S3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Private, encrypted storage for uploaded CSVs; presigned PUT uploads.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clouddq-datasets-121835991420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Amazon DynamoDB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Single table for datasets, runs, issues, alerts; GSI1 for per-user queries.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CloudDQ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Amazon Comprehend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AI service: detects personal data (PII) in sample column values during analysis.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DetectPiiEntities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Amazon SNS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Emails business alerts to the Data User and CloudWatch alarm notifications.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clouddq-alerts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Amazon CloudWatch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Lambda logs and error alarm for monitoring.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/aws/lambda/clouddq-api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Amazon Bedrock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Generative AI executive summary from aggregated metrics (Converse API); account access pending with AWS.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us.amazon.nova-lite-v1:0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AWS IAM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Team IAM users with scoped policies; Lambda execution role.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202B"/>
                          </a:solidFill>
                          <a:latin typeface="Calibri"/>
                        </a:rPr>
                        <a:t>clouddq-lambda-role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Individual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270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3202B"/>
                </a:solidFill>
                <a:latin typeface="Calibri"/>
              </a:rPr>
              <a:t>Pooja Palani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D6B5C"/>
                </a:solidFill>
                <a:latin typeface="Calibri"/>
              </a:rPr>
              <a:t>[Reg. No.]  ·  Backend, API and AI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5B66"/>
                </a:solidFill>
                <a:latin typeface="Calibri"/>
              </a:rPr>
              <a:t>Modules: M3, M4, M6, M8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Created the DynamoDB table CloudDQ with the PK/SK keys and GSI1 index.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Created the Lambda execution role and the clouddq-api function (Python 3.12, us-east-1); packaged and deployed the backend code and set environment variables.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Built the REST API in API Gateway: Cognito authorizer, / and /{proxy+} routes, CORS, deployment to the prod stage.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Implemented the Bedrock Converse call and the metrics-only payload for the AI summary.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Integrated Amazon Comprehend PII detection into the analysis and added its IAM permission to the Lambda role.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Ran the first Lambda test so CloudWatch logging started.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173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270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3202B"/>
                </a:solidFill>
                <a:latin typeface="Calibri"/>
              </a:rPr>
              <a:t>Dewlyn 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9202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D6B5C"/>
                </a:solidFill>
                <a:latin typeface="Calibri"/>
              </a:rPr>
              <a:t>[Reg. No.]  ·  Frontend, identity and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5B66"/>
                </a:solidFill>
                <a:latin typeface="Calibri"/>
              </a:rPr>
              <a:t>Modules: M1, M2, M3 (upload), M5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60604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Created the Cognito user pool, public SPA app client, DataUser / BusinessUser groups and demo users.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Created the private, encrypted S3 bucket and its CORS rule for browser uploads.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Set up AWS Amplify Hosting from GitHub, the monorepo build specification and the VITE_ environment variables.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Connected the frontend sign-in (Cognito) and API configuration; added the Amplify URL to Cognito and S3 CORS.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8" y="14173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8" y="15270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3202B"/>
                </a:solidFill>
                <a:latin typeface="Calibri"/>
              </a:rPr>
              <a:t>Lathika Shree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8" y="19202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D6B5C"/>
                </a:solidFill>
                <a:latin typeface="Calibri"/>
              </a:rPr>
              <a:t>[Reg. No.]  ·  Operations, monitoring and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8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5B66"/>
                </a:solidFill>
                <a:latin typeface="Calibri"/>
              </a:rPr>
              <a:t>Modules: M6 (model access), M7 testing, M8 (monitoring, IAM)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8" y="260604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Checked Amazon Bedrock model availability (Nova Lite) and the inference profile used by Lambda.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Verified the Amplify environment variables before release.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Confirmed the CloudWatch log group and created the clouddq-api-errors alarm.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Created the Amazon SNS topic clouddq-alerts for alert emails and connected the CloudWatch alarm to it.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Reviewed IAM users and policies for least privilege.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sz="1150">
                <a:solidFill>
                  <a:srgbClr val="13202B"/>
                </a:solidFill>
                <a:latin typeface="Calibri"/>
              </a:rPr>
              <a:t>Tested the end-to-end alert and correction workflow with both roles.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Shared by all three: Requirement analysis, architecture design, DQ dimension and rule design, testing, documentation and the review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Tools / 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8851392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73152" marR="73152" marT="36576" marB="36576">
                    <a:solidFill>
                      <a:srgbClr val="1D6B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Languages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Python 3.12 (backend), TypeScript (frontend)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React 19, Vite 8, Tailwind CSS 4, React Router 7, Recharts 3, Axios, amazon-cognito-identity-js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boto3 / botocore (AWS SDK for Python), Python standard library (csv, re, statistics)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AWS tooling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AWS Management Console, AWS CLI v2, AWS SAM (template.yaml)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Dev tools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Cursor / VS Code, Git and GitHub, Node.js 20+, npm, Postman, Google Chrome DevTools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Python unittest/pytest for the DQ engine; local API server (backend/local_server.py)</a:t>
                      </a:r>
                    </a:p>
                  </a:txBody>
                  <a:tcPr marL="73152" marR="73152" marT="36576" marB="36576">
                    <a:solidFill>
                      <a:srgbClr val="EE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B"/>
                          </a:solidFill>
                          <a:latin typeface="Calibri"/>
                        </a:rPr>
                        <a:t>Any laptop with 8 GB RAM and internet access; AWS account (region us-east-1)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AWS IAM</a:t>
            </a:r>
          </a:p>
        </p:txBody>
      </p:sp>
      <p:pic>
        <p:nvPicPr>
          <p:cNvPr id="7" name="Picture 6" descr="iam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IAM → Users: Pooja, DewlynMary, LathikaShree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AWS IAM</a:t>
            </a:r>
          </a:p>
        </p:txBody>
      </p:sp>
      <p:pic>
        <p:nvPicPr>
          <p:cNvPr id="10" name="Picture 9" descr="iam_r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Roles → clouddq-lambda-role → Permissions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Cognito</a:t>
            </a:r>
          </a:p>
        </p:txBody>
      </p:sp>
      <p:pic>
        <p:nvPicPr>
          <p:cNvPr id="7" name="Picture 6" descr="cognito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User pool us-east-1_DT3M9ZhMz →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Cognito</a:t>
            </a:r>
          </a:p>
        </p:txBody>
      </p:sp>
      <p:pic>
        <p:nvPicPr>
          <p:cNvPr id="10" name="Picture 9" descr="cognito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User pool → Groups: DataUser, BusinessUser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Cognito</a:t>
            </a:r>
          </a:p>
        </p:txBody>
      </p:sp>
      <p:pic>
        <p:nvPicPr>
          <p:cNvPr id="7" name="Picture 6" descr="cognito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User pool → Users (demo Data User and Business User)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S3</a:t>
            </a:r>
          </a:p>
        </p:txBody>
      </p:sp>
      <p:pic>
        <p:nvPicPr>
          <p:cNvPr id="10" name="Picture 9" descr="s3_bu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Bucket clouddq-datasets-121835991420 → Objects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S3</a:t>
            </a:r>
          </a:p>
        </p:txBody>
      </p:sp>
      <p:pic>
        <p:nvPicPr>
          <p:cNvPr id="7" name="Picture 6" descr="s3_c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Bucket → Permissions: Block all public access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DynamoDB</a:t>
            </a:r>
          </a:p>
        </p:txBody>
      </p:sp>
      <p:pic>
        <p:nvPicPr>
          <p:cNvPr id="10" name="Picture 9" descr="dynamodb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Table CloudDQ → Explore items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AWS Lambda</a:t>
            </a:r>
          </a:p>
        </p:txBody>
      </p:sp>
      <p:pic>
        <p:nvPicPr>
          <p:cNvPr id="7" name="Picture 6" descr="lambda_f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Function clouddq-api → overview with API Gateway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AWS Lambda</a:t>
            </a:r>
          </a:p>
        </p:txBody>
      </p:sp>
      <p:pic>
        <p:nvPicPr>
          <p:cNvPr id="10" name="Picture 9" descr="lambda_e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Function clouddq-api → Configuration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API Gateway</a:t>
            </a:r>
          </a:p>
        </p:txBody>
      </p:sp>
      <p:pic>
        <p:nvPicPr>
          <p:cNvPr id="7" name="Picture 6" descr="api_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REST API fdro0463k8 → Resources: / and /{proxy+} 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API Gateway</a:t>
            </a:r>
          </a:p>
        </p:txBody>
      </p:sp>
      <p:pic>
        <p:nvPicPr>
          <p:cNvPr id="10" name="Picture 9" descr="api_author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REST API → Authorizers: CognitoAuthorizer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AWS Amplify</a:t>
            </a:r>
          </a:p>
        </p:txBody>
      </p:sp>
      <p:pic>
        <p:nvPicPr>
          <p:cNvPr id="7" name="Picture 6" descr="amplify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App clouddq-ai → Overview (main branch deployed)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AWS Amplify</a:t>
            </a:r>
          </a:p>
        </p:txBody>
      </p:sp>
      <p:pic>
        <p:nvPicPr>
          <p:cNvPr id="10" name="Picture 9" descr="amplify_e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App clouddq-ai → Environment variables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CloudWatch</a:t>
            </a:r>
          </a:p>
        </p:txBody>
      </p:sp>
      <p:pic>
        <p:nvPicPr>
          <p:cNvPr id="7" name="Picture 6" descr="cloudwatch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Log group /aws/lambda/clouddq-api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CloudWatch</a:t>
            </a:r>
          </a:p>
        </p:txBody>
      </p:sp>
      <p:pic>
        <p:nvPicPr>
          <p:cNvPr id="10" name="Picture 9" descr="cloudwatch_al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Alarm clouddq-api-errors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SNS</a:t>
            </a:r>
          </a:p>
        </p:txBody>
      </p:sp>
      <p:pic>
        <p:nvPicPr>
          <p:cNvPr id="7" name="Picture 6" descr="sns_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Topic clouddq-alerts (alert emails and alarm notifications)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Comprehend</a:t>
            </a:r>
          </a:p>
        </p:txBody>
      </p:sp>
      <p:pic>
        <p:nvPicPr>
          <p:cNvPr id="10" name="Picture 9" descr="compreh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10152"/>
            <a:ext cx="5440680" cy="230637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PII detection result inside CloudDQ (Employee Directory dataset)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AWS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Screenshots of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6B5C"/>
                </a:solidFill>
                <a:latin typeface="Calibri"/>
              </a:rPr>
              <a:t>Amazon Bedrock</a:t>
            </a:r>
          </a:p>
        </p:txBody>
      </p:sp>
      <p:pic>
        <p:nvPicPr>
          <p:cNvPr id="7" name="Picture 6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312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B5B66"/>
                </a:solidFill>
                <a:latin typeface="Calibri"/>
              </a:rPr>
              <a:t>Model catalog → Amazon Nova Lite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STEPS 1–2 OF 14 · LATHIKASHREE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Walkthrough: Lathika connects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1. Sign in as LathikaShree</a:t>
            </a:r>
          </a:p>
        </p:txBody>
      </p:sp>
      <p:pic>
        <p:nvPicPr>
          <p:cNvPr id="7" name="Picture 6" descr="01_signin_lath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IAM user sign-in with account 121835991420 and username LathikaShree.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2. Console home</a:t>
            </a:r>
          </a:p>
        </p:txBody>
      </p:sp>
      <p:pic>
        <p:nvPicPr>
          <p:cNvPr id="10" name="Picture 9" descr="02_conso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Signed in as LathikaShree in US East (N. Virginia).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STEPS 3–4 OF 14 · LATHIKASHREE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Walkthrough: Lathika connects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3. Amazon SNS → Topics</a:t>
            </a:r>
          </a:p>
        </p:txBody>
      </p:sp>
      <p:pic>
        <p:nvPicPr>
          <p:cNvPr id="7" name="Picture 6" descr="03_sns_topics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No topics yet. Choose Create topic.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4. Create topic</a:t>
            </a:r>
          </a:p>
        </p:txBody>
      </p:sp>
      <p:pic>
        <p:nvPicPr>
          <p:cNvPr id="10" name="Picture 9" descr="04_create_topic_standard_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Type Standard, name clouddq-alerts. The red KMS banner only means Lathika can't list encryption keys; this topic uses default encryption, so it can be ignored.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STEPS 5–6 OF 14 · LATHIKASHREE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Walkthrough: Lathika connects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5. Topic created</a:t>
            </a:r>
          </a:p>
        </p:txBody>
      </p:sp>
      <p:pic>
        <p:nvPicPr>
          <p:cNvPr id="7" name="Picture 6" descr="05_topic_cre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ARN arn:aws:sns:us-east-1:121835991420:clouddq-alerts — the same ARN Lambda uses in ALERT_TOPIC_ARN. Subscriptions are added from this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6. CloudWatch → Alarms → clouddq-api-errors</a:t>
            </a:r>
          </a:p>
        </p:txBody>
      </p:sp>
      <p:pic>
        <p:nvPicPr>
          <p:cNvPr id="10" name="Picture 9" descr="06_alarm_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Open the alarm, then Actions → Edit.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STEPS 7–8 OF 14 · LATHIKASHREE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Walkthrough: Lathika connects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7. Edit alarm — step 1</a:t>
            </a:r>
          </a:p>
        </p:txBody>
      </p:sp>
      <p:pic>
        <p:nvPicPr>
          <p:cNvPr id="7" name="Picture 6" descr="07_alarm_edit_step1_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Metric and condition stay the same (Lambda Errors &gt; 0 in 5 minutes). Choose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8. Edit alarm — step 2</a:t>
            </a:r>
          </a:p>
        </p:txBody>
      </p:sp>
      <p:pic>
        <p:nvPicPr>
          <p:cNvPr id="10" name="Picture 9" descr="08_alarm_edit_step2_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Configure actions. Choose Add notification.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STEPS 9–10 OF 14 · LATHIKASHREE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Walkthrough: Lathika connects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9. Add notification</a:t>
            </a:r>
          </a:p>
        </p:txBody>
      </p:sp>
      <p:pic>
        <p:nvPicPr>
          <p:cNvPr id="7" name="Picture 6" descr="09_add_notification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Trigger In alarm, Select an existing SNS topic.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10. Choose the topic</a:t>
            </a:r>
          </a:p>
        </p:txBody>
      </p:sp>
      <p:pic>
        <p:nvPicPr>
          <p:cNvPr id="10" name="Picture 9" descr="10_notification_topic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Send a notification to clouddq-alerts. Then Next.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STEPS 11–12 OF 14 · LATHIKASHREE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Walkthrough: Lathika connects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11. Edit alarm — step 3</a:t>
            </a:r>
          </a:p>
        </p:txBody>
      </p:sp>
      <p:pic>
        <p:nvPicPr>
          <p:cNvPr id="7" name="Picture 6" descr="11_alarm_details_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Name stays clouddq-api-errors. Choose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12. Edit alarm — step 4</a:t>
            </a:r>
          </a:p>
        </p:txBody>
      </p:sp>
      <p:pic>
        <p:nvPicPr>
          <p:cNvPr id="10" name="Picture 9" descr="12_preview_and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Preview the change and choose Update alarm.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STEPS 13–14 OF 14 · LATHIKASHREE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Walkthrough: Lathika connects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13. Alarm updated</a:t>
            </a:r>
          </a:p>
        </p:txBody>
      </p:sp>
      <p:pic>
        <p:nvPicPr>
          <p:cNvPr id="7" name="Picture 6" descr="13_alarm_up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Back on the alarm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6B5C"/>
                </a:solidFill>
                <a:latin typeface="Calibri"/>
              </a:rPr>
              <a:t>14. Actions tab</a:t>
            </a:r>
          </a:p>
        </p:txBody>
      </p:sp>
      <p:pic>
        <p:nvPicPr>
          <p:cNvPr id="10" name="Picture 9" descr="cloudwatch_al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4507"/>
            <a:ext cx="5440680" cy="340042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5349240"/>
            <a:ext cx="5440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B5B66"/>
                </a:solidFill>
                <a:latin typeface="Calibri"/>
              </a:rPr>
              <a:t>Notification to clouddq-alerts when the alarm goes In alarm. 'Configuration not verified' disappears once an email subscription is confirmed.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 CODE (COMPLETE CODE IN REPORT APPENDIX)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M4 · DQ engine — weighted score and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5029200"/>
          </a:xfrm>
          <a:prstGeom prst="roundRect">
            <a:avLst>
              <a:gd name="adj" fmla="val 6000"/>
            </a:avLst>
          </a:prstGeom>
          <a:solidFill>
            <a:srgbClr val="13202B"/>
          </a:solidFill>
          <a:ln w="15875">
            <a:solidFill>
              <a:srgbClr val="1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000">
                <a:solidFill>
                  <a:srgbClr val="8FD3C1"/>
                </a:solidFill>
                <a:latin typeface="Menlo"/>
              </a:rPr>
              <a:t>backend/src/dq_engine/dimensions.py  (lines 215–237)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def compute_dimensions(profile: dict) -&gt; dict[str, Any]: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rows = profile.get("rows") or []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completeness, c_detail = score_completeness(profile)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validity, v_detail = score_validity(profile, rows)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uniqueness, u_detail = score_uniqueness(profile, rows)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consistency, k_detail = score_consistency(profile, rows)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accuracy, a_detail = score_accuracy(profile, rows)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timeliness, t_detail = score_timeliness(profile, rows)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dimensions = {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"completeness": completeness,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"validity": validity,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"uniqueness": uniqueness,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"consistency": consistency,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"accuracy": accuracy,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"timeliness": timeliness,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}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overall = round(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sum(dimensions[k] * WEIGHTS[k] for k in WEIGHTS),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2,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health = classify_health(overall)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 CODE (COMPLETE CODE IN REPORT APPENDIX)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M8 · Lambda entry point —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5029200"/>
          </a:xfrm>
          <a:prstGeom prst="roundRect">
            <a:avLst>
              <a:gd name="adj" fmla="val 6000"/>
            </a:avLst>
          </a:prstGeom>
          <a:solidFill>
            <a:srgbClr val="13202B"/>
          </a:solidFill>
          <a:ln w="15875">
            <a:solidFill>
              <a:srgbClr val="1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000">
                <a:solidFill>
                  <a:srgbClr val="8FD3C1"/>
                </a:solidFill>
                <a:latin typeface="Menlo"/>
              </a:rPr>
              <a:t>backend/src/handler.py  (lines 23–57)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def lambda_handler(event, context):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method = (event.get("httpMethod") or event.get("requestContext", {}).get("http", {}).get("method") or "GET").upper()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# Support both REST (proxy+) and HTTP API path styles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path = event.get("path") or event.get("rawPath") or "/"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# Strip stage prefix e.g. /prod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path = re.sub(r"^/prod", "", path) or "/"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logger.info("request %s %s", method, path)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if method == "OPTIONS":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return ok({"ok": True})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try: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user = user_from_event(event)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# Local/dev authorizer bypass for SAM local without Cognito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if user["role"] == "Unknown" and os.environ.get("ALLOW_DEV_AUTH") == "1":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headers = {k.lower(): v for k, v in (event.get("headers") or {}).items()}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role = headers.get("x-dev-role", "DataUser")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user = {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    "sub": headers.get("x-dev-sub", "dev-user"),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    "email": headers.get("x-dev-email", "dev@example.com"),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    "username": "dev",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    "groups": [role],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    "role": role if role in {"DataUser", "BusinessUser"} else "DataUser",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}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body = parse_body(event)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params = path_params(event)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# Health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if method == "GET" and path in {"/", "/health"}: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    return ok({"service": "CloudDQ AI", "status": "ok"})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# Datasets</a:t>
            </a:r>
          </a:p>
          <a:p>
            <a:pPr algn="l"/>
            <a:r>
              <a:rPr sz="900">
                <a:solidFill>
                  <a:srgbClr val="E6EDF3"/>
                </a:solidFill>
                <a:latin typeface="Menlo"/>
              </a:rPr>
              <a:t>        if method == "POST" and path == "/datasets/upload-url":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 CODE (COMPLETE CODE IN REPORT APPENDIX)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M6 · Bedrock Converse — metrics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5029200"/>
          </a:xfrm>
          <a:prstGeom prst="roundRect">
            <a:avLst>
              <a:gd name="adj" fmla="val 6000"/>
            </a:avLst>
          </a:prstGeom>
          <a:solidFill>
            <a:srgbClr val="13202B"/>
          </a:solidFill>
          <a:ln w="15875">
            <a:solidFill>
              <a:srgbClr val="1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000">
                <a:solidFill>
                  <a:srgbClr val="8FD3C1"/>
                </a:solidFill>
                <a:latin typeface="Menlo"/>
              </a:rPr>
              <a:t>backend/src/ai/bedrock.py  (lines 97–117)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def _invoke_bedrock(prompt: str, metrics: dict) -&gt; tuple[str, list[str], str | None]: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"""Call Bedrock Converse on each configured model; fall back to a template if all fail."""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client = _bedrock()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last_error = "no model configured"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for model_id in _model_ids():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try: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resp = client.converse(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    modelId=model_id,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    messages=[{"role": "user", "content": [{"text": prompt}]}],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    inferenceConfig={"maxTokens": 800, "temperature": 0.2},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except Exception as exc:  # noqa: BLE001 — try the next model, then fall back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last_error = f"{model_id}: {exc}"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continue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text = ""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for block in resp.get("output", {}).get("message", {}).get("content", []):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if "text" in block: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    text += block["text"]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parsed = _parse_ai_json(text)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if parsed: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return parsed["executive_summary"], parsed["recommendations"][:3], model_id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 CODE (COMPLETE CODE IN REPORT APPENDIX)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M3 · Presigned S3 upload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5029200"/>
          </a:xfrm>
          <a:prstGeom prst="roundRect">
            <a:avLst>
              <a:gd name="adj" fmla="val 6000"/>
            </a:avLst>
          </a:prstGeom>
          <a:solidFill>
            <a:srgbClr val="13202B"/>
          </a:solidFill>
          <a:ln w="15875">
            <a:solidFill>
              <a:srgbClr val="1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000">
                <a:solidFill>
                  <a:srgbClr val="8FD3C1"/>
                </a:solidFill>
                <a:latin typeface="Menlo"/>
              </a:rPr>
              <a:t>backend/src/store/s3.py  (lines 20–32)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def presigned_put_url(key: str, content_type: str = "text/csv", expires: int = 900) -&gt; str: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return _client().generate_presigned_url(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"put_object",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Params={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"Bucket": BUCKET_NAME,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"Key": key,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    "ContentType": content_type,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},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    ExpiresIn=expires,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   )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6EDF3"/>
                </a:solidFill>
                <a:latin typeface="Menlo"/>
              </a:rPr>
              <a:t>def get_object_bytes(key: str) -&gt; bytes: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MODULE CODE (COMPLETE CODE IN REPORT APPENDIX)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M1 · Cognito sign-in in the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5029200"/>
          </a:xfrm>
          <a:prstGeom prst="roundRect">
            <a:avLst>
              <a:gd name="adj" fmla="val 6000"/>
            </a:avLst>
          </a:prstGeom>
          <a:solidFill>
            <a:srgbClr val="13202B"/>
          </a:solidFill>
          <a:ln w="15875">
            <a:solidFill>
              <a:srgbClr val="1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000">
                <a:solidFill>
                  <a:srgbClr val="8FD3C1"/>
                </a:solidFill>
                <a:latin typeface="Menlo"/>
              </a:rPr>
              <a:t>frontend/src/lib/cognito.ts  (lines 39–78)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export function login(email: string, password: string): Promise&lt;AuthUser&gt; 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if (config.devAuth) 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const role: Role = email.toLowerCase().includes('business') ? 'BusinessUser' : 'DataUser'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const user: AuthUser = 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email,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sub: `dev-${role.toLowerCase()}`,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role,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token: 'dev-token',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}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localStorage.setItem('clouddq_dev_user', JSON.stringify(user))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return Promise.resolve(user)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}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const userPool = pool()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if (!userPool) 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return Promise.reject(new Error('Cognito is not configured. Set VITE_COGNITO_* or VITE_DEV_AUTH=1'))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}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const cognitoUser = new CognitoUser({ Username: email, Pool: userPool })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const authDetails = new AuthenticationDetails({ Username: email, Password: password })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return new Promise((resolve, reject) =&gt; 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cognitoUser.authenticateUser(authDetails, 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onSuccess: (session) =&gt; 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  const groups = groupsFromSession(session)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  resolve({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    email,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    sub: session.getIdToken().payload.sub as string,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    role: roleFromGroups(groups),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    token: session.getIdToken().getJwtToken(),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  })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},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onFailure: (err) =&gt; reject(err),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newPasswordRequired: () =&gt; {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  reject(new Error('New password required — set permanent password in Cognito console'))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  },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  })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 })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}</a:t>
            </a:r>
          </a:p>
          <a:p>
            <a:pPr algn="l"/>
            <a:r>
              <a:rPr sz="800">
                <a:solidFill>
                  <a:srgbClr val="E6EDF3"/>
                </a:solidFill>
                <a:latin typeface="Menlo"/>
              </a:rPr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35</a:t>
            </a:r>
          </a:p>
        </p:txBody>
      </p:sp>
      <p:pic>
        <p:nvPicPr>
          <p:cNvPr id="6" name="Picture 5" descr="crop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Public landing page describing the platform and the six dimensions.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2/17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Cognito sign-in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36</a:t>
            </a:r>
          </a:p>
        </p:txBody>
      </p:sp>
      <p:pic>
        <p:nvPicPr>
          <p:cNvPr id="6" name="Picture 5" descr="crop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Email and password sign-in against the Amazon Cognito user pool.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3/17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Data User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37</a:t>
            </a:r>
          </a:p>
        </p:txBody>
      </p:sp>
      <p:pic>
        <p:nvPicPr>
          <p:cNvPr id="6" name="Picture 5" descr="crop_datause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Role-aware home with dataset and alert counts for the Data User.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4/17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CSV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38</a:t>
            </a:r>
          </a:p>
        </p:txBody>
      </p:sp>
      <p:pic>
        <p:nvPicPr>
          <p:cNvPr id="6" name="Picture 5" descr="crop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Upload form; the file goes straight to S3 through a presigned URL.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5/17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Dataset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39</a:t>
            </a:r>
          </a:p>
        </p:txBody>
      </p:sp>
      <p:pic>
        <p:nvPicPr>
          <p:cNvPr id="6" name="Picture 5" descr="crop_dataset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All datasets with DQ score, health and workflow status.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6/17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Quality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40</a:t>
            </a:r>
          </a:p>
        </p:txBody>
      </p:sp>
      <p:pic>
        <p:nvPicPr>
          <p:cNvPr id="6" name="Picture 5" descr="crop_dataset_detai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Score 90.13% Healthy, actions, status timeline, dimensions and trend.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7/17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Six-dimension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41</a:t>
            </a:r>
          </a:p>
        </p:txBody>
      </p:sp>
      <p:pic>
        <p:nvPicPr>
          <p:cNvPr id="6" name="Picture 5" descr="crop_sec_dim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1872"/>
            <a:ext cx="11064240" cy="479717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Accuracy, completeness, consistency, timeliness, uniqueness, validity.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8/17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Column quality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42</a:t>
            </a:r>
          </a:p>
        </p:txBody>
      </p:sp>
      <p:pic>
        <p:nvPicPr>
          <p:cNvPr id="6" name="Picture 5" descr="crop_s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1872"/>
            <a:ext cx="11064240" cy="479717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Per-column quality from null rates and type checks.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9/17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Severity &amp; rule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43</a:t>
            </a:r>
          </a:p>
        </p:txBody>
      </p:sp>
      <p:pic>
        <p:nvPicPr>
          <p:cNvPr id="6" name="Picture 5" descr="crop_sec_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1872"/>
            <a:ext cx="11064240" cy="479717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Issue counts by severity and how many rules passed.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10/17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Personal data detection (Amazon Comprehend)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44</a:t>
            </a:r>
          </a:p>
        </p:txBody>
      </p:sp>
      <p:pic>
        <p:nvPicPr>
          <p:cNvPr id="6" name="Picture 5" descr="compreh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35322"/>
            <a:ext cx="11064240" cy="4690275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Comprehend flags Full_Name as NAME and Email as EMAIL with 100% confidence.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11/17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Issues with lifecycle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45</a:t>
            </a:r>
          </a:p>
        </p:txBody>
      </p:sp>
      <p:pic>
        <p:nvPicPr>
          <p:cNvPr id="6" name="Picture 5" descr="sec_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6905"/>
            <a:ext cx="11064240" cy="3767110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Rule failures with severity, acknowledge / resolve and audit history.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12/17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AI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46</a:t>
            </a:r>
          </a:p>
        </p:txBody>
      </p:sp>
      <p:pic>
        <p:nvPicPr>
          <p:cNvPr id="6" name="Picture 5" descr="sec_a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40238"/>
            <a:ext cx="11064240" cy="2680443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Executive summary and top-3 recommendations from metrics JSON only (simulated preview while Bedrock access is pending).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13/17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Soft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47</a:t>
            </a:r>
          </a:p>
        </p:txBody>
      </p:sp>
      <p:pic>
        <p:nvPicPr>
          <p:cNvPr id="6" name="Picture 5" descr="sec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89814"/>
            <a:ext cx="11064240" cy="981292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Data User re-uploads a corrected CSV to re-validate.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14/17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Business User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48</a:t>
            </a:r>
          </a:p>
        </p:txBody>
      </p:sp>
      <p:pic>
        <p:nvPicPr>
          <p:cNvPr id="6" name="Picture 5" descr="crop_business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Business User view — no upload, read results and raise alerts.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15/17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Send quality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49</a:t>
            </a:r>
          </a:p>
        </p:txBody>
      </p:sp>
      <p:pic>
        <p:nvPicPr>
          <p:cNvPr id="6" name="Picture 5" descr="sec_send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3066"/>
            <a:ext cx="11064240" cy="2054787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Business User sends an alert with a note to the Data User.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16/17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Sent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50</a:t>
            </a:r>
          </a:p>
        </p:txBody>
      </p:sp>
      <p:pic>
        <p:nvPicPr>
          <p:cNvPr id="6" name="Picture 5" descr="crop_business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Alert status OPEN with score and health, plus status history.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FEATURE OUTPUT 17/17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Data User alert inbox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51</a:t>
            </a:r>
          </a:p>
        </p:txBody>
      </p:sp>
      <p:pic>
        <p:nvPicPr>
          <p:cNvPr id="6" name="Picture 5" descr="crop_datauser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647"/>
            <a:ext cx="11064240" cy="479962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B66"/>
                </a:solidFill>
                <a:latin typeface="Calibri"/>
              </a:rPr>
              <a:t>Data User receives the alert and starts the correction workflow.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D6B5C"/>
                </a:solidFill>
              </a:rPr>
              <a:t>▪  </a:t>
            </a:r>
            <a:r>
              <a:rPr sz="1500">
                <a:solidFill>
                  <a:srgbClr val="13202B"/>
                </a:solidFill>
                <a:latin typeface="Calibri"/>
              </a:rPr>
              <a:t>Sample dataset Customer Master (customers_dirty.csv) scored 90.13% — HEALTHY, fit for analytics.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6B5C"/>
                </a:solidFill>
              </a:rPr>
              <a:t>▪  </a:t>
            </a:r>
            <a:r>
              <a:rPr sz="1500">
                <a:solidFill>
                  <a:srgbClr val="13202B"/>
                </a:solidFill>
                <a:latin typeface="Calibri"/>
              </a:rPr>
              <a:t>Dimension scores: completeness 95.96, validity 84.21, uniqueness 90.91, consistency 92.86, accuracy 81.25, timeliness 95.45.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6B5C"/>
                </a:solidFill>
              </a:rPr>
              <a:t>▪  </a:t>
            </a:r>
            <a:r>
              <a:rPr sz="1500">
                <a:solidFill>
                  <a:srgbClr val="13202B"/>
                </a:solidFill>
                <a:latin typeface="Calibri"/>
              </a:rPr>
              <a:t>Three open issues raised: Key Uniqueness (HIGH), Overall Validity (MEDIUM), Value Accuracy (MEDIUM).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6B5C"/>
                </a:solidFill>
              </a:rPr>
              <a:t>▪  </a:t>
            </a:r>
            <a:r>
              <a:rPr sz="1500">
                <a:solidFill>
                  <a:srgbClr val="13202B"/>
                </a:solidFill>
                <a:latin typeface="Calibri"/>
              </a:rPr>
              <a:t>Employee Directory (employees_clean.csv) scored 96.0% — Comprehend flagged Full_Name (NAME) and Email (EMAIL) at 100% confidence.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6B5C"/>
                </a:solidFill>
              </a:rPr>
              <a:t>▪  </a:t>
            </a:r>
            <a:r>
              <a:rPr sz="1500">
                <a:solidFill>
                  <a:srgbClr val="13202B"/>
                </a:solidFill>
                <a:latin typeface="Calibri"/>
              </a:rPr>
              <a:t>Business User alert moved the dataset workflow to AlertRaised, appeared in the Data User inbox and was published to SNS.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6B5C"/>
                </a:solidFill>
              </a:rPr>
              <a:t>▪  </a:t>
            </a:r>
            <a:r>
              <a:rPr sz="1500">
                <a:solidFill>
                  <a:srgbClr val="13202B"/>
                </a:solidFill>
                <a:latin typeface="Calibri"/>
              </a:rPr>
              <a:t>Requests without a token are rejected by API Gateway with 401, and wrong-role actions by Lambda with 403.</a:t>
            </a:r>
          </a:p>
        </p:txBody>
      </p:sp>
      <p:pic>
        <p:nvPicPr>
          <p:cNvPr id="7" name="Picture 6" descr="sec_dim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14612"/>
            <a:ext cx="4846320" cy="2897256"/>
          </a:xfrm>
          <a:prstGeom prst="rect">
            <a:avLst/>
          </a:prstGeom>
          <a:ln w="9525">
            <a:solidFill>
              <a:srgbClr val="C9D6CF"/>
            </a:solidFill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Challenges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6B5C"/>
                </a:solidFill>
                <a:latin typeface="Calibri"/>
              </a:rP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b="1" sz="1150">
                <a:solidFill>
                  <a:srgbClr val="13202B"/>
                </a:solidFill>
                <a:latin typeface="Calibri"/>
              </a:rPr>
              <a:t>Bedrock access on a new account — </a:t>
            </a:r>
            <a:r>
              <a:rPr sz="1150">
                <a:solidFill>
                  <a:srgbClr val="13202B"/>
                </a:solidFill>
                <a:latin typeface="Calibri"/>
              </a:rPr>
              <a:t>The account returned NOT_AUTHORIZED for Bedrock models with a quota of 0. The Converse integration and IAM are in place; the app falls back to a deterministic summary from the same metrics until AWS lifts the restriction (support case).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b="1" sz="1150">
                <a:solidFill>
                  <a:srgbClr val="13202B"/>
                </a:solidFill>
                <a:latin typeface="Calibri"/>
              </a:rPr>
              <a:t>Monorepo build on Amplify — </a:t>
            </a:r>
            <a:r>
              <a:rPr sz="1150">
                <a:solidFill>
                  <a:srgbClr val="13202B"/>
                </a:solidFill>
                <a:latin typeface="Calibri"/>
              </a:rPr>
              <a:t>The app root is the repository root, so the build spec runs cd frontend and publishes frontend/dist.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b="1" sz="1150">
                <a:solidFill>
                  <a:srgbClr val="13202B"/>
                </a:solidFill>
                <a:latin typeface="Calibri"/>
              </a:rPr>
              <a:t>Greedy proxy resource in API Gateway — </a:t>
            </a:r>
            <a:r>
              <a:rPr sz="1150">
                <a:solidFill>
                  <a:srgbClr val="13202B"/>
                </a:solidFill>
                <a:latin typeface="Calibri"/>
              </a:rPr>
              <a:t>The /{proxy+} resource needs the greedy path parameter and the authorizer on ANY only, never on the OPTIONS preflight.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D6B5C"/>
                </a:solidFill>
              </a:rPr>
              <a:t>▪  </a:t>
            </a:r>
            <a:r>
              <a:rPr b="1" sz="1150">
                <a:solidFill>
                  <a:srgbClr val="13202B"/>
                </a:solidFill>
                <a:latin typeface="Calibri"/>
              </a:rPr>
              <a:t>Cognito first sign-in — </a:t>
            </a:r>
            <a:r>
              <a:rPr sz="1150">
                <a:solidFill>
                  <a:srgbClr val="13202B"/>
                </a:solidFill>
                <a:latin typeface="Calibri"/>
              </a:rPr>
              <a:t>Admin-created users start in FORCE_CHANGE_PASSWORD; passwords were set as permanent to match the in-app login.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6B5C"/>
                </a:solidFill>
                <a:latin typeface="Calibri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S3 event notifications → automatic analysis on upload; Step Functions for the analysis workflow.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Per-user SNS subscriptions or Amazon SES templated emails, and Comprehend-driven masking of PII columns.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AWS Glue Data Quality and Athena for very large datasets and SQL exploration.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Bedrock Guardrails and Knowledge Bases for safer, rule-aware explanations.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D6B5C"/>
                </a:solidFill>
              </a:rPr>
              <a:t>▪  </a:t>
            </a:r>
            <a:r>
              <a:rPr sz="1300">
                <a:solidFill>
                  <a:srgbClr val="13202B"/>
                </a:solidFill>
                <a:latin typeface="Calibri"/>
              </a:rPr>
              <a:t>Infrastructure as code (SAM / CDK) with a CI/CD pipeline and multiple environments.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6B5C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02B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B8A94"/>
                </a:solidFill>
                <a:latin typeface="Calibri"/>
              </a:rPr>
              <a:t>CloudDQ AI  · 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“AWS Amplify Hosting User Guide.” https://docs.aws.amazon.com/amplify/latest/userguide/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“Amazon Cognito Developer Guide — User pools.” https://docs.aws.amazon.com/cognito/latest/developerguide/cognito-user-pools.html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“Use Amazon Cognito user pools as authorizer for a REST API.” https://docs.aws.amazon.com/apigateway/latest/developerguide/apigateway-integrate-with-cognito.html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“Lambda proxy integrations in API Gateway.” https://docs.aws.amazon.com/apigateway/latest/developerguide/set-up-lambda-proxy-integrations.html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“AWS Lambda Developer Guide — Building with Python.” https://docs.aws.amazon.com/lambda/latest/dg/lambda-python.html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“Uploading objects with presigned URLs.” https://docs.aws.amazon.com/AmazonS3/latest/userguide/PresignedUrlUploadObject.html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“Best practices for DynamoDB — single-table design.” https://docs.aws.amazon.com/amazondynamodb/latest/developerguide/bp-general-nosql-design.html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“Amazon Bedrock — Converse API.” https://docs.aws.amazon.com/bedrock/latest/userguide/conversation-inference.html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“Amazon Nova User Guide.” https://docs.aws.amazon.com/nova/latest/userguide/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“Amazon Comprehend — Detecting PII entities.” https://docs.aws.amazon.com/comprehend/latest/dg/how-pii.html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“Amazon SNS Developer Guide — Email notifications.” https://docs.aws.amazon.com/sns/latest/dg/sns-email-notifications.html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“Using Amazon CloudWatch alarms.” https://docs.aws.amazon.com/AmazonCloudWatch/latest/monitoring/AlarmThatSendsEmail.html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Amazon Web Services, “Security best practices in IAM.” https://docs.aws.amazon.com/IAM/latest/UserGuide/best-practices.html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DAMA International, DAMA-DMBOK: Data Management Body of Knowledge, 2nd ed. Technics Publications, 2017.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ISO/IEC 25012:2008, Software engineering — Software product Quality Requirements and Evaluation (SQuaRE) — Data quality model.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R. Y. Wang and D. M. Strong, “Beyond accuracy: What data quality means to data consumers,” Journal of Management Information Systems, 12(4), 5–33, 1996.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D6B5C"/>
                </a:solidFill>
              </a:rPr>
              <a:t>▪  </a:t>
            </a:r>
            <a:r>
              <a:rPr sz="1050">
                <a:solidFill>
                  <a:srgbClr val="13202B"/>
                </a:solidFill>
                <a:latin typeface="Calibri"/>
              </a:rPr>
              <a:t>React documentation. https://react.dev/ · Vite documentation. https://vite.dev/ · Recharts. https://recharts.org/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AF5F1"/>
                </a:solidFill>
                <a:latin typeface="Calibri"/>
              </a:rPr>
              <a:t>Questions?   ·   https://main.d3ffgcfvtof2u.amplifyapp.com/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FE7DF"/>
                </a:solidFill>
                <a:latin typeface="Calibri"/>
              </a:rPr>
              <a:t>Pooja Palani  ·  Dewlyn Mary  ·  Lathika Shree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